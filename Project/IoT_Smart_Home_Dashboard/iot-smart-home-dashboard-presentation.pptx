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handoutMasterIdLst>
    <p:handoutMasterId r:id="rId27"/>
  </p:handoutMasterIdLst>
  <p:sldIdLst>
    <p:sldId id="256" r:id="rId2"/>
    <p:sldId id="257" r:id="rId3"/>
    <p:sldId id="265" r:id="rId4"/>
    <p:sldId id="264" r:id="rId5"/>
    <p:sldId id="266" r:id="rId6"/>
    <p:sldId id="271" r:id="rId7"/>
    <p:sldId id="272" r:id="rId8"/>
    <p:sldId id="277" r:id="rId9"/>
    <p:sldId id="280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93" r:id="rId19"/>
    <p:sldId id="294" r:id="rId20"/>
    <p:sldId id="295" r:id="rId21"/>
    <p:sldId id="296" r:id="rId22"/>
    <p:sldId id="297" r:id="rId23"/>
    <p:sldId id="298" r:id="rId24"/>
    <p:sldId id="263" r:id="rId25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23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EC20E35-A176-4012-BC5E-935CFFF8708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599" autoAdjust="0"/>
  </p:normalViewPr>
  <p:slideViewPr>
    <p:cSldViewPr>
      <p:cViewPr varScale="1">
        <p:scale>
          <a:sx n="90" d="100"/>
          <a:sy n="90" d="100"/>
        </p:scale>
        <p:origin x="398" y="53"/>
      </p:cViewPr>
      <p:guideLst>
        <p:guide pos="3839"/>
        <p:guide orient="horz" pos="2160"/>
      </p:guideLst>
    </p:cSldViewPr>
  </p:slideViewPr>
  <p:notesTextViewPr>
    <p:cViewPr>
      <p:scale>
        <a:sx n="50" d="100"/>
        <a:sy n="50" d="100"/>
      </p:scale>
      <p:origin x="0" y="0"/>
    </p:cViewPr>
  </p:notesTextViewPr>
  <p:notesViewPr>
    <p:cSldViewPr showGuides="1">
      <p:cViewPr varScale="1">
        <p:scale>
          <a:sx n="52" d="100"/>
          <a:sy n="52" d="100"/>
        </p:scale>
        <p:origin x="2664" y="3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4AA43A-3F76-4A13-9CD6-36134EB429E3}" type="datetimeFigureOut">
              <a:rPr lang="en-US"/>
              <a:t>10/14/2025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0423A-8BCE-448E-A97B-03A88B2B12C1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1395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674A4F-2B7A-4ECB-A400-260B2FFC03C1}" type="datetimeFigureOut">
              <a:rPr lang="en-US"/>
              <a:t>10/14/2025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F2A70B-78F2-4DCF-B53B-C990D2FAFB8A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1570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2A70B-78F2-4DCF-B53B-C990D2FAFB8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5050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3D9E7-05C7-90D6-9456-D560C001E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E4204F-3EDB-7F87-D327-8B04E4D59F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AF63D5-72AE-CD33-4A9E-E5F32D3DB9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49CD2-06C9-829D-FDF4-21529C04CE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2A70B-78F2-4DCF-B53B-C990D2FAFB8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2003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22A81-C4B0-1214-9FAB-4DAD70234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83B2DF-56C3-F360-2A6C-C4F7DD173B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26DD34-4146-EFB1-B950-BD4E9271D4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ABB26C-FF93-DBB2-C612-4161C5B521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2A70B-78F2-4DCF-B53B-C990D2FAFB8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1372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3496F-23AA-EE10-599E-FFEFF2AA6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C76C2F-629B-CABC-9973-6C2675B1C0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28670D-7ED6-EB82-355C-00357E8BAF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FCA2B9-7662-7575-5EE0-BCFF496C6B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2A70B-78F2-4DCF-B53B-C990D2FAFB8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7743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CCE69-9851-2A6B-E000-1988BD6B6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A5C3A2-8AE1-6DFA-796E-E53460C375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659BE7-F373-034F-CC22-28D6AAFFBA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171E19-E80C-2920-4CB7-8F6979DFA8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2A70B-78F2-4DCF-B53B-C990D2FAFB8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8402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BD25-1225-72B3-B178-888408D60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F1799D-9977-7ED5-1181-192DBC7472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7C72DC-718F-F97D-F595-8A3A27122D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C92D5A-9F04-ECC1-5E3A-8B9F09AFB9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2A70B-78F2-4DCF-B53B-C990D2FAFB8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3057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EA02E-C03F-27BB-374D-018F82803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11205F-76AE-A0A2-753D-A534153641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0AF1AB-FE9B-6408-69F6-FEB6DACC78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8229F1-6865-2DBF-6F36-2DE7F86FE6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2A70B-78F2-4DCF-B53B-C990D2FAFB8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6656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51519-6C2F-C4AF-8EB9-FDE439455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3EE071-582A-1787-AA8D-FF9F5824ED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8E4A12-CAEB-C14A-B786-F2428BDAAA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CBCEF5-F3E8-134B-F5AB-950AC09A72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2A70B-78F2-4DCF-B53B-C990D2FAFB8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4503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5F3C5-1359-86C8-764C-1996C0C71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844EA1-2D4B-4EAA-8D69-9ED56FF0D0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2D7BE2-D731-F6B3-92EE-4EB9A7B7D4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68F3BD-5D58-F66B-3014-357E75DB30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2A70B-78F2-4DCF-B53B-C990D2FAFB8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0497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2ABFF-FEA9-6A48-7543-CE4AF5B06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E77576-455B-7479-0CA4-45BC34E3B0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F6EDE8-3F5F-6313-8416-E0AB7A278F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F9B856-ED77-94FE-8A4E-553F52C7BA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2A70B-78F2-4DCF-B53B-C990D2FAFB8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3242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5C42D-EFC8-9A08-9C2F-AD7B7BF2D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285C09-D840-3DEA-6F10-5EEF20B42D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CF79C5-2B0D-D288-F849-BCA28D3873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5D69B0-E17F-5821-FC42-53EDB5DA0C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2A70B-78F2-4DCF-B53B-C990D2FAFB8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3270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04366-9E3E-835F-1C6C-5BD9DF43B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6120EC-3108-C9E0-00CF-235D5034D0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25862A-D844-2FB2-ED0F-E848435C46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24BF0E-7ED2-CE9C-2094-D7E399B619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2A70B-78F2-4DCF-B53B-C990D2FAFB8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4023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905000"/>
            <a:ext cx="9144000" cy="2667000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56" name="line" descr="Line graphic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7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9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5105400"/>
            <a:ext cx="9143999" cy="10668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74356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67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548640">
              <a:defRPr/>
            </a:lvl2pPr>
            <a:lvl3pPr marL="777240">
              <a:defRPr/>
            </a:lvl3pPr>
            <a:lvl4pPr marL="1005840">
              <a:defRPr/>
            </a:lvl4pPr>
            <a:lvl5pPr marL="1234440">
              <a:defRPr/>
            </a:lvl5pPr>
            <a:lvl6pPr marL="1463040">
              <a:defRPr baseline="0"/>
            </a:lvl6pPr>
            <a:lvl7pPr marL="1691640">
              <a:defRPr baseline="0"/>
            </a:lvl7pPr>
            <a:lvl8pPr marL="1920240">
              <a:defRPr baseline="0"/>
            </a:lvl8pPr>
            <a:lvl9pPr marL="2148840"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10/14/2025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4472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1905000"/>
            <a:ext cx="9144000" cy="2667000"/>
          </a:xfrm>
        </p:spPr>
        <p:txBody>
          <a:bodyPr anchor="b">
            <a:noAutofit/>
          </a:bodyPr>
          <a:lstStyle>
            <a:lvl1pPr algn="l">
              <a:defRPr sz="4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55" name="line" descr="Line graphic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6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7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5102525"/>
            <a:ext cx="9143999" cy="1069675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10/14/2025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8797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58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9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4419599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6815" y="1905000"/>
            <a:ext cx="4419598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10/14/2025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83294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60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1" name="Freeform 16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6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3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9860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9860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 marL="1956816"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/>
            </a:lvl8pPr>
            <a:lvl9pPr marL="1956816"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10/14/2025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2491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56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7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8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9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10/14/2025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31561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10/14/2025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5966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2413" y="3429000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0022" y="1905000"/>
            <a:ext cx="5669280" cy="4038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grpSp>
        <p:nvGrpSpPr>
          <p:cNvPr id="615" name="frame" descr="Box graphic"/>
          <p:cNvGrpSpPr/>
          <p:nvPr/>
        </p:nvGrpSpPr>
        <p:grpSpPr bwMode="invGray">
          <a:xfrm>
            <a:off x="4417839" y="1630821"/>
            <a:ext cx="6291028" cy="4575885"/>
            <a:chOff x="4417839" y="1630821"/>
            <a:chExt cx="6291028" cy="4575885"/>
          </a:xfrm>
        </p:grpSpPr>
        <p:grpSp>
          <p:nvGrpSpPr>
            <p:cNvPr id="616" name="Group 615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8" name="Group 76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84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9" name="Group 76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77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7" name="Group 616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8" name="Group 61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69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9" name="Group 61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10/14/2025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2116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1745838" y="1884311"/>
            <a:ext cx="5669280" cy="4041648"/>
          </a:xfrm>
          <a:solidFill>
            <a:schemeClr val="bg1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grpSp>
        <p:nvGrpSpPr>
          <p:cNvPr id="614" name="frame" descr="Box graphic"/>
          <p:cNvGrpSpPr/>
          <p:nvPr/>
        </p:nvGrpSpPr>
        <p:grpSpPr bwMode="invGray">
          <a:xfrm flipH="1">
            <a:off x="1447500" y="1630821"/>
            <a:ext cx="6291028" cy="4575885"/>
            <a:chOff x="4417839" y="1630821"/>
            <a:chExt cx="6291028" cy="4575885"/>
          </a:xfrm>
        </p:grpSpPr>
        <p:grpSp>
          <p:nvGrpSpPr>
            <p:cNvPr id="615" name="Group 614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7" name="Group 76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3" name="Freeform 84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8" name="Group 76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69" name="Freeform 76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6" name="Group 615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7" name="Group 61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3" name="Freeform 69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8" name="Group 61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19" name="Freeform 61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622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623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624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625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626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627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628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629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630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631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632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633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634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635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636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637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638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639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640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641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642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643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644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645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646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647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648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649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650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651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652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653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654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655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656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657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658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659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660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661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662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663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664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665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666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67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68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69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70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71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72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73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4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75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76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677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678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679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680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681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682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683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684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685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686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687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688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689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690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691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5959" y="3411748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10/14/2025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7694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7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8" name="Freeform 7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8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9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 marL="1956816">
              <a:defRPr/>
            </a:lvl6pPr>
            <a:lvl7pPr marL="1956816">
              <a:defRPr/>
            </a:lvl7pPr>
            <a:lvl8pPr marL="1956816">
              <a:defRPr/>
            </a:lvl8pPr>
            <a:lvl9pPr marL="1956816"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10/14/2025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6793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61612" y="274639"/>
            <a:ext cx="1371600" cy="59017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7" name="line" descr="Line graphic"/>
          <p:cNvGrpSpPr/>
          <p:nvPr/>
        </p:nvGrpSpPr>
        <p:grpSpPr bwMode="invGray">
          <a:xfrm rot="5400000">
            <a:off x="6864412" y="3472598"/>
            <a:ext cx="6492240" cy="64008"/>
            <a:chOff x="1522413" y="1514475"/>
            <a:chExt cx="10569575" cy="64008"/>
          </a:xfrm>
        </p:grpSpPr>
        <p:sp>
          <p:nvSpPr>
            <p:cNvPr id="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08012" y="277813"/>
            <a:ext cx="9144001" cy="5898573"/>
          </a:xfrm>
        </p:spPr>
        <p:txBody>
          <a:bodyPr vert="eaVert"/>
          <a:lstStyle>
            <a:lvl5pPr>
              <a:defRPr/>
            </a:lvl5pPr>
            <a:lvl6pPr marL="1261872" indent="0">
              <a:buNone/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10/14/2025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11791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FE8FB1-0A7A-443E-AAF7-31D4FA1AA312}" type="datetimeFigureOut">
              <a:rPr lang="en-US" smtClean="0"/>
              <a:pPr/>
              <a:t>10/14/2025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A54BD-C84D-46CE-8B72-31BFB26ABA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C71120-CBF7-A710-BE4A-88712D46C1F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82375" y="6672580"/>
            <a:ext cx="765175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5356364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76072" indent="-27432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04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33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618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947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76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1" y="2057400"/>
            <a:ext cx="9448801" cy="2667000"/>
          </a:xfrm>
        </p:spPr>
        <p:txBody>
          <a:bodyPr/>
          <a:lstStyle/>
          <a:p>
            <a:r>
              <a:rPr lang="en-US" sz="5300" dirty="0">
                <a:ln w="0"/>
                <a:latin typeface="Rockwell" panose="02060603020205020403" pitchFamily="18" charset="0"/>
              </a:rPr>
              <a:t>IoT Smart Home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4412" y="4800600"/>
            <a:ext cx="9143999" cy="1066800"/>
          </a:xfrm>
        </p:spPr>
        <p:txBody>
          <a:bodyPr>
            <a:normAutofit/>
          </a:bodyPr>
          <a:lstStyle/>
          <a:p>
            <a:pPr algn="r"/>
            <a:r>
              <a:rPr lang="en-US" b="1" dirty="0">
                <a:solidFill>
                  <a:schemeClr val="tx1"/>
                </a:solidFill>
              </a:rPr>
              <a:t>						</a:t>
            </a:r>
            <a:r>
              <a:rPr lang="en-US" sz="2800" dirty="0">
                <a:solidFill>
                  <a:schemeClr val="tx1"/>
                </a:solidFill>
                <a:latin typeface="Footlight MT Light" panose="0204060206030A020304" pitchFamily="18" charset="0"/>
              </a:rPr>
              <a:t>Sushma </a:t>
            </a:r>
            <a:r>
              <a:rPr lang="en-US" sz="2800" dirty="0" err="1">
                <a:solidFill>
                  <a:schemeClr val="tx1"/>
                </a:solidFill>
                <a:latin typeface="Footlight MT Light" panose="0204060206030A020304" pitchFamily="18" charset="0"/>
              </a:rPr>
              <a:t>Mainampati</a:t>
            </a:r>
            <a:endParaRPr lang="en-US" sz="2800" dirty="0">
              <a:solidFill>
                <a:schemeClr val="tx1"/>
              </a:solidFill>
              <a:latin typeface="Footlight MT Light" panose="0204060206030A020304" pitchFamily="18" charset="0"/>
            </a:endParaRPr>
          </a:p>
          <a:p>
            <a:pPr algn="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Emp. ID: 108915821</a:t>
            </a:r>
          </a:p>
        </p:txBody>
      </p:sp>
    </p:spTree>
    <p:extLst>
      <p:ext uri="{BB962C8B-B14F-4D97-AF65-F5344CB8AC3E}">
        <p14:creationId xmlns:p14="http://schemas.microsoft.com/office/powerpoint/2010/main" val="1920111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	The IoT Smart Home Dashboard is a Java-based console application designed for managing smart home devices through a comprehensive command-line interface. Built with Java 21 and AWS DynamoDB Local, this application provides device control, user management, energy monitoring, and automation features. </a:t>
            </a:r>
          </a:p>
        </p:txBody>
      </p:sp>
    </p:spTree>
    <p:extLst>
      <p:ext uri="{BB962C8B-B14F-4D97-AF65-F5344CB8AC3E}">
        <p14:creationId xmlns:p14="http://schemas.microsoft.com/office/powerpoint/2010/main" val="2128536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7C74938-7BC9-E4F9-D660-BEF6823CCC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8673011"/>
              </p:ext>
            </p:extLst>
          </p:nvPr>
        </p:nvGraphicFramePr>
        <p:xfrm>
          <a:off x="684212" y="1600200"/>
          <a:ext cx="10820401" cy="50292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27122">
                  <a:extLst>
                    <a:ext uri="{9D8B030D-6E8A-4147-A177-3AD203B41FA5}">
                      <a16:colId xmlns:a16="http://schemas.microsoft.com/office/drawing/2014/main" val="1187427577"/>
                    </a:ext>
                  </a:extLst>
                </a:gridCol>
                <a:gridCol w="2542388">
                  <a:extLst>
                    <a:ext uri="{9D8B030D-6E8A-4147-A177-3AD203B41FA5}">
                      <a16:colId xmlns:a16="http://schemas.microsoft.com/office/drawing/2014/main" val="2206043973"/>
                    </a:ext>
                  </a:extLst>
                </a:gridCol>
                <a:gridCol w="2135890">
                  <a:extLst>
                    <a:ext uri="{9D8B030D-6E8A-4147-A177-3AD203B41FA5}">
                      <a16:colId xmlns:a16="http://schemas.microsoft.com/office/drawing/2014/main" val="3932418276"/>
                    </a:ext>
                  </a:extLst>
                </a:gridCol>
                <a:gridCol w="2847189">
                  <a:extLst>
                    <a:ext uri="{9D8B030D-6E8A-4147-A177-3AD203B41FA5}">
                      <a16:colId xmlns:a16="http://schemas.microsoft.com/office/drawing/2014/main" val="2583487816"/>
                    </a:ext>
                  </a:extLst>
                </a:gridCol>
                <a:gridCol w="2449419">
                  <a:extLst>
                    <a:ext uri="{9D8B030D-6E8A-4147-A177-3AD203B41FA5}">
                      <a16:colId xmlns:a16="http://schemas.microsoft.com/office/drawing/2014/main" val="648925595"/>
                    </a:ext>
                  </a:extLst>
                </a:gridCol>
                <a:gridCol w="418393">
                  <a:extLst>
                    <a:ext uri="{9D8B030D-6E8A-4147-A177-3AD203B41FA5}">
                      <a16:colId xmlns:a16="http://schemas.microsoft.com/office/drawing/2014/main" val="3867956096"/>
                    </a:ext>
                  </a:extLst>
                </a:gridCol>
              </a:tblGrid>
              <a:tr h="1280691">
                <a:tc gridSpan="6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 dirty="0">
                          <a:solidFill>
                            <a:schemeClr val="accent5"/>
                          </a:solidFill>
                          <a:effectLst/>
                        </a:rPr>
                        <a:t>PRESENTATION LAYER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Console Interface (CLI)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Smart Home Dashboard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1540621"/>
                  </a:ext>
                </a:extLst>
              </a:tr>
              <a:tr h="325502">
                <a:tc gridSpan="6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 </a:t>
                      </a:r>
                      <a:r>
                        <a:rPr lang="en-US" sz="2000" b="1" kern="100" dirty="0">
                          <a:solidFill>
                            <a:srgbClr val="FFC000"/>
                          </a:solidFill>
                          <a:effectLst/>
                        </a:rPr>
                        <a:t>SERVICE LAYER</a:t>
                      </a:r>
                    </a:p>
                  </a:txBody>
                  <a:tcPr marL="68580" marR="68580" marT="0" marB="0">
                    <a:lnB w="12700" cmpd="sng"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1894640"/>
                  </a:ext>
                </a:extLst>
              </a:tr>
              <a:tr h="79548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 </a:t>
                      </a:r>
                    </a:p>
                  </a:txBody>
                  <a:tcPr marL="68580" marR="68580" marT="0" marB="0"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Smart Home Service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(Core Logic)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Timer Service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(Automation)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Calendar Service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(Events)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Energy Service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(Analytics)</a:t>
                      </a: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000" kern="100" dirty="0">
                        <a:effectLst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0673351"/>
                  </a:ext>
                </a:extLst>
              </a:tr>
              <a:tr h="325502">
                <a:tc gridSpan="6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000" kern="100" dirty="0">
                        <a:effectLst/>
                        <a:latin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mpd="sng">
                      <a:noFill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7834111"/>
                  </a:ext>
                </a:extLst>
              </a:tr>
              <a:tr h="325502">
                <a:tc gridSpan="6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 dirty="0">
                          <a:solidFill>
                            <a:srgbClr val="00B050"/>
                          </a:solidFill>
                          <a:effectLst/>
                        </a:rPr>
                        <a:t>DOMAIN LAYER</a:t>
                      </a:r>
                    </a:p>
                  </a:txBody>
                  <a:tcPr marL="68580" marR="68580" marT="0" marB="0">
                    <a:lnB w="12700" cmpd="sng"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000" b="1" kern="100" dirty="0"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4610832"/>
                  </a:ext>
                </a:extLst>
              </a:tr>
              <a:tr h="8555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000" kern="100" dirty="0">
                        <a:effectLst/>
                        <a:latin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 Customer Entity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(User Data)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Gadget Entity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(IoT Device)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Device Permission Entity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(Access Control)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Smart Alert Entity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(Notify)</a:t>
                      </a: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000" kern="100" dirty="0">
                        <a:effectLst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4967752"/>
                  </a:ext>
                </a:extLst>
              </a:tr>
              <a:tr h="325502">
                <a:tc gridSpan="6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000" kern="100" dirty="0">
                        <a:effectLst/>
                        <a:latin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mpd="sng">
                      <a:noFill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8227263"/>
                  </a:ext>
                </a:extLst>
              </a:tr>
              <a:tr h="795481">
                <a:tc gridSpan="6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 dirty="0">
                          <a:solidFill>
                            <a:srgbClr val="0070C0"/>
                          </a:solidFill>
                          <a:effectLst/>
                        </a:rPr>
                        <a:t>INFRASTRUCTURE LAYER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AWS DynamoDB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735343"/>
                  </a:ext>
                </a:extLst>
              </a:tr>
            </a:tbl>
          </a:graphicData>
        </a:graphic>
      </p:graphicFrame>
      <p:sp>
        <p:nvSpPr>
          <p:cNvPr id="11" name="Title 10">
            <a:extLst>
              <a:ext uri="{FF2B5EF4-FFF2-40B4-BE49-F238E27FC236}">
                <a16:creationId xmlns:a16="http://schemas.microsoft.com/office/drawing/2014/main" id="{1A9A4958-27F8-48FE-5953-4BF9CDC2D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</p:txBody>
      </p:sp>
    </p:spTree>
    <p:extLst>
      <p:ext uri="{BB962C8B-B14F-4D97-AF65-F5344CB8AC3E}">
        <p14:creationId xmlns:p14="http://schemas.microsoft.com/office/powerpoint/2010/main" val="1289681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E132271-8218-3EA7-3E2D-D776BEB2FE6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889483"/>
            <a:ext cx="12188825" cy="604471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68C3387-D228-FA81-36F8-AFBE03094AE2}"/>
              </a:ext>
            </a:extLst>
          </p:cNvPr>
          <p:cNvSpPr/>
          <p:nvPr/>
        </p:nvSpPr>
        <p:spPr>
          <a:xfrm>
            <a:off x="227012" y="1219200"/>
            <a:ext cx="1676400" cy="533400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7D0DFD6-2FF2-2155-41D5-0861373F5FE9}"/>
              </a:ext>
            </a:extLst>
          </p:cNvPr>
          <p:cNvCxnSpPr>
            <a:cxnSpLocks/>
          </p:cNvCxnSpPr>
          <p:nvPr/>
        </p:nvCxnSpPr>
        <p:spPr>
          <a:xfrm>
            <a:off x="1903412" y="1447800"/>
            <a:ext cx="3048000" cy="106680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C742050-D381-DFFC-E049-A809F3451323}"/>
              </a:ext>
            </a:extLst>
          </p:cNvPr>
          <p:cNvSpPr txBox="1"/>
          <p:nvPr/>
        </p:nvSpPr>
        <p:spPr>
          <a:xfrm>
            <a:off x="4951412" y="1981199"/>
            <a:ext cx="6553200" cy="158812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Account &amp; Access Management:</a:t>
            </a:r>
          </a:p>
          <a:p>
            <a:pPr>
              <a:lnSpc>
                <a:spcPct val="90000"/>
              </a:lnSpc>
            </a:pPr>
            <a:endParaRPr lang="en-US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n-US" dirty="0"/>
              <a:t>Password strength is enforced with a minimum length of 8 characters, requiring at least </a:t>
            </a:r>
            <a:r>
              <a:rPr lang="en-US" b="1" dirty="0"/>
              <a:t>one capital letter, one lowercase letter, one special character, and one number</a:t>
            </a:r>
            <a:r>
              <a:rPr lang="en-US" dirty="0"/>
              <a:t>. Sensitive data is secured through </a:t>
            </a:r>
            <a:r>
              <a:rPr lang="en-US" b="1" dirty="0" err="1">
                <a:solidFill>
                  <a:srgbClr val="00B0F0"/>
                </a:solidFill>
              </a:rPr>
              <a:t>Bcrypt</a:t>
            </a:r>
            <a:r>
              <a:rPr lang="en-US" dirty="0"/>
              <a:t> encryption.</a:t>
            </a:r>
            <a:endParaRPr lang="en-US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itle 44">
            <a:extLst>
              <a:ext uri="{FF2B5EF4-FFF2-40B4-BE49-F238E27FC236}">
                <a16:creationId xmlns:a16="http://schemas.microsoft.com/office/drawing/2014/main" id="{D4E7BCA4-D848-EE07-F85A-6F14DAA83662}"/>
              </a:ext>
            </a:extLst>
          </p:cNvPr>
          <p:cNvSpPr txBox="1">
            <a:spLocks/>
          </p:cNvSpPr>
          <p:nvPr/>
        </p:nvSpPr>
        <p:spPr>
          <a:xfrm>
            <a:off x="1522414" y="274638"/>
            <a:ext cx="9143998" cy="53864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IoT Smart Home Dashboard - Menu</a:t>
            </a:r>
          </a:p>
        </p:txBody>
      </p:sp>
    </p:spTree>
    <p:extLst>
      <p:ext uri="{BB962C8B-B14F-4D97-AF65-F5344CB8AC3E}">
        <p14:creationId xmlns:p14="http://schemas.microsoft.com/office/powerpoint/2010/main" val="2301100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F315F-735A-F686-7540-8A2D0315C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109A526-D12E-BEA1-883A-90932805D6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9483"/>
            <a:ext cx="12188825" cy="604471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D5DEA13-7194-8083-E164-FCB24A67EB5B}"/>
              </a:ext>
            </a:extLst>
          </p:cNvPr>
          <p:cNvSpPr/>
          <p:nvPr/>
        </p:nvSpPr>
        <p:spPr>
          <a:xfrm>
            <a:off x="227012" y="2057400"/>
            <a:ext cx="1828800" cy="533400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8F12A91-BAC7-DD7C-92BA-8828F904659F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>
            <a:off x="2055812" y="2324100"/>
            <a:ext cx="2895600" cy="229564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6142519-6A30-5895-B278-49E6A275A950}"/>
              </a:ext>
            </a:extLst>
          </p:cNvPr>
          <p:cNvSpPr txBox="1"/>
          <p:nvPr/>
        </p:nvSpPr>
        <p:spPr>
          <a:xfrm>
            <a:off x="4951412" y="1981199"/>
            <a:ext cx="6553200" cy="11449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b="1" u="sng" dirty="0"/>
              <a:t>Device Management</a:t>
            </a:r>
            <a:r>
              <a:rPr lang="en-US" sz="20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>
              <a:lnSpc>
                <a:spcPct val="90000"/>
              </a:lnSpc>
            </a:pPr>
            <a:endParaRPr lang="en-US" sz="2000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n-US" dirty="0"/>
              <a:t>Application offers the user to add new devices and individually monitor or control each device's ON/OFF state.</a:t>
            </a:r>
          </a:p>
        </p:txBody>
      </p:sp>
      <p:sp>
        <p:nvSpPr>
          <p:cNvPr id="3" name="Title 44">
            <a:extLst>
              <a:ext uri="{FF2B5EF4-FFF2-40B4-BE49-F238E27FC236}">
                <a16:creationId xmlns:a16="http://schemas.microsoft.com/office/drawing/2014/main" id="{0198EE45-ECF7-DEDA-F136-C57BA1AB4149}"/>
              </a:ext>
            </a:extLst>
          </p:cNvPr>
          <p:cNvSpPr txBox="1">
            <a:spLocks/>
          </p:cNvSpPr>
          <p:nvPr/>
        </p:nvSpPr>
        <p:spPr>
          <a:xfrm>
            <a:off x="1522414" y="274638"/>
            <a:ext cx="9143998" cy="53864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IoT Smart Home Dashboard - Menu</a:t>
            </a:r>
          </a:p>
        </p:txBody>
      </p:sp>
    </p:spTree>
    <p:extLst>
      <p:ext uri="{BB962C8B-B14F-4D97-AF65-F5344CB8AC3E}">
        <p14:creationId xmlns:p14="http://schemas.microsoft.com/office/powerpoint/2010/main" val="2329837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D5917-03E7-EE53-7771-7B1799B7D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CBC6AC4-528A-045E-26BC-5763B61B6E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9483"/>
            <a:ext cx="12188825" cy="6044717"/>
          </a:xfrm>
          <a:prstGeom prst="rect">
            <a:avLst/>
          </a:prstGeom>
          <a:ln>
            <a:noFill/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9B4DB33-FDCD-6A70-3EA4-60B9D9299BAC}"/>
              </a:ext>
            </a:extLst>
          </p:cNvPr>
          <p:cNvSpPr/>
          <p:nvPr/>
        </p:nvSpPr>
        <p:spPr>
          <a:xfrm>
            <a:off x="209549" y="2895600"/>
            <a:ext cx="1828800" cy="228600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1EE46D3-4CAB-4292-CFC7-90106B152EAC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 flipV="1">
            <a:off x="2038349" y="2581364"/>
            <a:ext cx="2913063" cy="428536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C45C928-004A-37B5-CB77-B41C1281A6A1}"/>
              </a:ext>
            </a:extLst>
          </p:cNvPr>
          <p:cNvSpPr txBox="1"/>
          <p:nvPr/>
        </p:nvSpPr>
        <p:spPr>
          <a:xfrm>
            <a:off x="4951412" y="1981199"/>
            <a:ext cx="6553200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b="1" u="sng" dirty="0"/>
              <a:t>Manage User Groups</a:t>
            </a:r>
            <a:r>
              <a:rPr lang="en-US" sz="20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endParaRPr lang="en-US" dirty="0"/>
          </a:p>
          <a:p>
            <a:pPr algn="just"/>
            <a:r>
              <a:rPr lang="en-US" dirty="0"/>
              <a:t>The application enables users to add or remove members and assign precise, device-specific controls to them.</a:t>
            </a:r>
          </a:p>
        </p:txBody>
      </p:sp>
      <p:sp>
        <p:nvSpPr>
          <p:cNvPr id="3" name="Title 44">
            <a:extLst>
              <a:ext uri="{FF2B5EF4-FFF2-40B4-BE49-F238E27FC236}">
                <a16:creationId xmlns:a16="http://schemas.microsoft.com/office/drawing/2014/main" id="{D47037A4-84AB-76A6-DD8E-333E2D32CD8A}"/>
              </a:ext>
            </a:extLst>
          </p:cNvPr>
          <p:cNvSpPr txBox="1">
            <a:spLocks/>
          </p:cNvSpPr>
          <p:nvPr/>
        </p:nvSpPr>
        <p:spPr>
          <a:xfrm>
            <a:off x="1522414" y="274638"/>
            <a:ext cx="9143998" cy="53864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IoT Smart Home Dashboard - Menu</a:t>
            </a:r>
          </a:p>
        </p:txBody>
      </p:sp>
    </p:spTree>
    <p:extLst>
      <p:ext uri="{BB962C8B-B14F-4D97-AF65-F5344CB8AC3E}">
        <p14:creationId xmlns:p14="http://schemas.microsoft.com/office/powerpoint/2010/main" val="2417330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8B0F2-51DD-E989-B276-167B66994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F498104-9160-4793-C0F1-322042DAB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9483"/>
            <a:ext cx="12188825" cy="604471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061FA51-23E2-64F9-51FC-32A181D11F97}"/>
              </a:ext>
            </a:extLst>
          </p:cNvPr>
          <p:cNvSpPr/>
          <p:nvPr/>
        </p:nvSpPr>
        <p:spPr>
          <a:xfrm>
            <a:off x="303212" y="3429000"/>
            <a:ext cx="2227263" cy="914400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79BF5B2-8083-1678-E22C-DB23BA058CD9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 flipV="1">
            <a:off x="2530475" y="3427749"/>
            <a:ext cx="2420937" cy="458451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6DC06FA-D033-7182-566B-02DD57C2D306}"/>
              </a:ext>
            </a:extLst>
          </p:cNvPr>
          <p:cNvSpPr txBox="1"/>
          <p:nvPr/>
        </p:nvSpPr>
        <p:spPr>
          <a:xfrm>
            <a:off x="4951412" y="1981199"/>
            <a:ext cx="6553200" cy="28931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</a:pPr>
            <a:r>
              <a:rPr lang="en-US" b="1" u="sng" dirty="0"/>
              <a:t>Automation and Scheduling</a:t>
            </a:r>
            <a:r>
              <a:rPr lang="en-US" sz="20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algn="just"/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dirty="0"/>
              <a:t>This application offers comprehensive device management, including: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B0F0"/>
                </a:solidFill>
              </a:rPr>
              <a:t>Energy Monitoring</a:t>
            </a:r>
            <a:r>
              <a:rPr lang="en-US" b="1" dirty="0"/>
              <a:t>:</a:t>
            </a:r>
            <a:r>
              <a:rPr lang="en-US" dirty="0"/>
              <a:t> Track individual device and total system energy consumption.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B050"/>
                </a:solidFill>
              </a:rPr>
              <a:t>Scheduling</a:t>
            </a:r>
            <a:r>
              <a:rPr lang="en-US" b="1" dirty="0"/>
              <a:t>:</a:t>
            </a:r>
            <a:r>
              <a:rPr lang="en-US" dirty="0"/>
              <a:t> Create, manage, and view device operational schedules.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FF00"/>
                </a:solidFill>
              </a:rPr>
              <a:t>Smart Automation</a:t>
            </a:r>
            <a:r>
              <a:rPr lang="en-US" b="1" dirty="0"/>
              <a:t>:</a:t>
            </a:r>
            <a:r>
              <a:rPr lang="en-US" dirty="0"/>
              <a:t> Automate device states based on calendar events and weather conditions.</a:t>
            </a:r>
          </a:p>
        </p:txBody>
      </p:sp>
      <p:sp>
        <p:nvSpPr>
          <p:cNvPr id="4" name="Title 44">
            <a:extLst>
              <a:ext uri="{FF2B5EF4-FFF2-40B4-BE49-F238E27FC236}">
                <a16:creationId xmlns:a16="http://schemas.microsoft.com/office/drawing/2014/main" id="{18D9D39E-A787-FA62-E9C7-6E7827A2C8D7}"/>
              </a:ext>
            </a:extLst>
          </p:cNvPr>
          <p:cNvSpPr txBox="1">
            <a:spLocks/>
          </p:cNvSpPr>
          <p:nvPr/>
        </p:nvSpPr>
        <p:spPr>
          <a:xfrm>
            <a:off x="1522414" y="274638"/>
            <a:ext cx="9143998" cy="53864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IoT Smart Home Dashboard - Menu</a:t>
            </a:r>
          </a:p>
        </p:txBody>
      </p:sp>
    </p:spTree>
    <p:extLst>
      <p:ext uri="{BB962C8B-B14F-4D97-AF65-F5344CB8AC3E}">
        <p14:creationId xmlns:p14="http://schemas.microsoft.com/office/powerpoint/2010/main" val="3986257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98F42-AC59-EED7-03C2-F4F0489EE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C0BAF6E-68BC-155D-B97C-D91BCCDC9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9483"/>
            <a:ext cx="12188825" cy="604471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68CA6E2-FC4C-262E-0895-A9E507BFD400}"/>
              </a:ext>
            </a:extLst>
          </p:cNvPr>
          <p:cNvSpPr/>
          <p:nvPr/>
        </p:nvSpPr>
        <p:spPr>
          <a:xfrm>
            <a:off x="361949" y="4648200"/>
            <a:ext cx="2227263" cy="533400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E618BF9-46CD-DE68-A96E-8754C3D0C618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 flipV="1">
            <a:off x="2589212" y="2775263"/>
            <a:ext cx="2362200" cy="2139637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1F3F588-3A7B-37F2-41CE-62A83BFE5EDF}"/>
              </a:ext>
            </a:extLst>
          </p:cNvPr>
          <p:cNvSpPr txBox="1"/>
          <p:nvPr/>
        </p:nvSpPr>
        <p:spPr>
          <a:xfrm>
            <a:off x="4951412" y="1981199"/>
            <a:ext cx="6553200" cy="158812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b="1" u="sng" dirty="0"/>
              <a:t>Smart Features: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pPr algn="just">
              <a:lnSpc>
                <a:spcPct val="90000"/>
              </a:lnSpc>
            </a:pPr>
            <a:r>
              <a:rPr lang="en-US" dirty="0"/>
              <a:t>For enhanced control, users can </a:t>
            </a:r>
            <a:r>
              <a:rPr lang="en-US" b="1" dirty="0">
                <a:solidFill>
                  <a:schemeClr val="accent1"/>
                </a:solidFill>
              </a:rPr>
              <a:t>group devices </a:t>
            </a:r>
            <a:r>
              <a:rPr lang="en-US" dirty="0"/>
              <a:t>and manage their ON/OFF states collectively. The application further offers simulated performance reports and comprehensive usage details for all connected devices.</a:t>
            </a:r>
          </a:p>
        </p:txBody>
      </p:sp>
      <p:sp>
        <p:nvSpPr>
          <p:cNvPr id="2" name="Title 44">
            <a:extLst>
              <a:ext uri="{FF2B5EF4-FFF2-40B4-BE49-F238E27FC236}">
                <a16:creationId xmlns:a16="http://schemas.microsoft.com/office/drawing/2014/main" id="{87B1524B-2FEA-A448-42F8-DD131F053350}"/>
              </a:ext>
            </a:extLst>
          </p:cNvPr>
          <p:cNvSpPr txBox="1">
            <a:spLocks/>
          </p:cNvSpPr>
          <p:nvPr/>
        </p:nvSpPr>
        <p:spPr>
          <a:xfrm>
            <a:off x="1522414" y="274638"/>
            <a:ext cx="9143998" cy="53864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IoT Smart Home Dashboard - Menu</a:t>
            </a:r>
          </a:p>
        </p:txBody>
      </p:sp>
    </p:spTree>
    <p:extLst>
      <p:ext uri="{BB962C8B-B14F-4D97-AF65-F5344CB8AC3E}">
        <p14:creationId xmlns:p14="http://schemas.microsoft.com/office/powerpoint/2010/main" val="1473381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DD827-940F-4594-19E0-4CBB3356D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255DBFC-8C22-F4C9-546D-7EEB993D96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9483"/>
            <a:ext cx="12188825" cy="604471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2873921-C3AF-1CE8-2431-946433AA8838}"/>
              </a:ext>
            </a:extLst>
          </p:cNvPr>
          <p:cNvSpPr/>
          <p:nvPr/>
        </p:nvSpPr>
        <p:spPr>
          <a:xfrm>
            <a:off x="361949" y="5486400"/>
            <a:ext cx="1389063" cy="762000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8459B8D-33C7-8585-97B6-9A60BDAB3047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 flipV="1">
            <a:off x="1751012" y="2830663"/>
            <a:ext cx="3200400" cy="3036737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7D490C8-7B2F-569D-DEAC-A9CA6E5BD8B4}"/>
              </a:ext>
            </a:extLst>
          </p:cNvPr>
          <p:cNvSpPr txBox="1"/>
          <p:nvPr/>
        </p:nvSpPr>
        <p:spPr>
          <a:xfrm>
            <a:off x="4951412" y="1981199"/>
            <a:ext cx="6553200" cy="169892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b="1" u="sng" dirty="0"/>
              <a:t>System Settings: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r>
              <a:rPr lang="en-US" dirty="0"/>
              <a:t>The application offers essential user controls: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/>
                </a:solidFill>
              </a:rPr>
              <a:t>Account Management</a:t>
            </a:r>
            <a:r>
              <a:rPr lang="en-US" b="1" dirty="0"/>
              <a:t>:</a:t>
            </a:r>
            <a:r>
              <a:rPr lang="en-US" dirty="0"/>
              <a:t> Edit profile and change password.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B050"/>
                </a:solidFill>
              </a:rPr>
              <a:t>Interface Reset</a:t>
            </a:r>
            <a:r>
              <a:rPr lang="en-US" b="1" dirty="0"/>
              <a:t>:</a:t>
            </a:r>
            <a:r>
              <a:rPr lang="en-US" dirty="0"/>
              <a:t> Clear screen to wipe previous operations.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FF00"/>
                </a:solidFill>
              </a:rPr>
              <a:t>Session Control:</a:t>
            </a:r>
            <a:r>
              <a:rPr lang="en-US" dirty="0">
                <a:solidFill>
                  <a:srgbClr val="FFFF00"/>
                </a:solidFill>
              </a:rPr>
              <a:t> </a:t>
            </a:r>
            <a:r>
              <a:rPr lang="en-US" dirty="0"/>
              <a:t>Securely sign out or exit the application.</a:t>
            </a:r>
          </a:p>
        </p:txBody>
      </p:sp>
      <p:sp>
        <p:nvSpPr>
          <p:cNvPr id="2" name="Title 44">
            <a:extLst>
              <a:ext uri="{FF2B5EF4-FFF2-40B4-BE49-F238E27FC236}">
                <a16:creationId xmlns:a16="http://schemas.microsoft.com/office/drawing/2014/main" id="{E4954375-E9D1-F7C2-121E-FAA96CF1AD3F}"/>
              </a:ext>
            </a:extLst>
          </p:cNvPr>
          <p:cNvSpPr txBox="1">
            <a:spLocks/>
          </p:cNvSpPr>
          <p:nvPr/>
        </p:nvSpPr>
        <p:spPr>
          <a:xfrm>
            <a:off x="1522414" y="274638"/>
            <a:ext cx="9143998" cy="53864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IoT Smart Home Dashboard - Menu</a:t>
            </a:r>
          </a:p>
        </p:txBody>
      </p:sp>
    </p:spTree>
    <p:extLst>
      <p:ext uri="{BB962C8B-B14F-4D97-AF65-F5344CB8AC3E}">
        <p14:creationId xmlns:p14="http://schemas.microsoft.com/office/powerpoint/2010/main" val="2973442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C8F8B-1452-BD41-E9DA-E85546086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7EB8E96-968D-84B3-79C0-8663AB3385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9483"/>
            <a:ext cx="12188825" cy="60447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899C528-5D5A-AAA2-EDD1-03E17C8E9761}"/>
              </a:ext>
            </a:extLst>
          </p:cNvPr>
          <p:cNvSpPr txBox="1"/>
          <p:nvPr/>
        </p:nvSpPr>
        <p:spPr>
          <a:xfrm>
            <a:off x="4951412" y="1981199"/>
            <a:ext cx="7086600" cy="252992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Single Responsibility Principle</a:t>
            </a:r>
          </a:p>
          <a:p>
            <a:pPr>
              <a:lnSpc>
                <a:spcPct val="90000"/>
              </a:lnSpc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 err="1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CustomerService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Only handles user authentication/management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 err="1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GadgetService</a:t>
            </a:r>
            <a:r>
              <a:rPr lang="en-US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Only handles device validation/creation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 err="1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TimerService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Only handles scheduling operations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EnergyManagementService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Only handles energy calculations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E9C78AAF-1370-CADC-B53A-813C51A26C51}"/>
              </a:ext>
            </a:extLst>
          </p:cNvPr>
          <p:cNvCxnSpPr>
            <a:cxnSpLocks/>
          </p:cNvCxnSpPr>
          <p:nvPr/>
        </p:nvCxnSpPr>
        <p:spPr>
          <a:xfrm flipH="1" flipV="1">
            <a:off x="2055812" y="1447800"/>
            <a:ext cx="2895600" cy="1295400"/>
          </a:xfrm>
          <a:prstGeom prst="straightConnector1">
            <a:avLst/>
          </a:prstGeom>
          <a:ln w="25400"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ight Brace 3">
            <a:extLst>
              <a:ext uri="{FF2B5EF4-FFF2-40B4-BE49-F238E27FC236}">
                <a16:creationId xmlns:a16="http://schemas.microsoft.com/office/drawing/2014/main" id="{CFBC4FB8-401B-6C2E-DF9E-E50274AD42A4}"/>
              </a:ext>
            </a:extLst>
          </p:cNvPr>
          <p:cNvSpPr/>
          <p:nvPr/>
        </p:nvSpPr>
        <p:spPr>
          <a:xfrm>
            <a:off x="1827212" y="1219200"/>
            <a:ext cx="152400" cy="457200"/>
          </a:xfrm>
          <a:prstGeom prst="rightBrace">
            <a:avLst>
              <a:gd name="adj1" fmla="val 8333"/>
              <a:gd name="adj2" fmla="val 49375"/>
            </a:avLst>
          </a:prstGeom>
          <a:ln w="25400"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B69DD11-8C3D-7280-3BF1-F7F18539B954}"/>
              </a:ext>
            </a:extLst>
          </p:cNvPr>
          <p:cNvCxnSpPr>
            <a:cxnSpLocks/>
          </p:cNvCxnSpPr>
          <p:nvPr/>
        </p:nvCxnSpPr>
        <p:spPr>
          <a:xfrm flipH="1">
            <a:off x="1827212" y="2743200"/>
            <a:ext cx="3124200" cy="304800"/>
          </a:xfrm>
          <a:prstGeom prst="straightConnector1">
            <a:avLst/>
          </a:prstGeom>
          <a:ln w="25400"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77A1218-58E7-A380-F123-8740EC6AC567}"/>
              </a:ext>
            </a:extLst>
          </p:cNvPr>
          <p:cNvCxnSpPr>
            <a:cxnSpLocks/>
          </p:cNvCxnSpPr>
          <p:nvPr/>
        </p:nvCxnSpPr>
        <p:spPr>
          <a:xfrm flipH="1">
            <a:off x="1751012" y="2743200"/>
            <a:ext cx="3200400" cy="2819400"/>
          </a:xfrm>
          <a:prstGeom prst="straightConnector1">
            <a:avLst/>
          </a:prstGeom>
          <a:ln w="25400"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3ED1E0F-1950-9303-CBF5-534EBB095331}"/>
              </a:ext>
            </a:extLst>
          </p:cNvPr>
          <p:cNvCxnSpPr>
            <a:cxnSpLocks/>
          </p:cNvCxnSpPr>
          <p:nvPr/>
        </p:nvCxnSpPr>
        <p:spPr>
          <a:xfrm flipH="1">
            <a:off x="1141412" y="2743200"/>
            <a:ext cx="3810000" cy="3225317"/>
          </a:xfrm>
          <a:prstGeom prst="straightConnector1">
            <a:avLst/>
          </a:prstGeom>
          <a:ln w="25400"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5D74772-2E28-9795-5C8E-A101A7512EFC}"/>
              </a:ext>
            </a:extLst>
          </p:cNvPr>
          <p:cNvCxnSpPr>
            <a:cxnSpLocks/>
            <a:stCxn id="9" idx="1"/>
          </p:cNvCxnSpPr>
          <p:nvPr/>
        </p:nvCxnSpPr>
        <p:spPr>
          <a:xfrm flipH="1" flipV="1">
            <a:off x="1446212" y="2171700"/>
            <a:ext cx="3505200" cy="1074461"/>
          </a:xfrm>
          <a:prstGeom prst="straightConnector1">
            <a:avLst/>
          </a:prstGeom>
          <a:ln w="25400">
            <a:solidFill>
              <a:srgbClr val="FFFF00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43D6EE6-F137-387A-F81F-3F057652CC39}"/>
              </a:ext>
            </a:extLst>
          </p:cNvPr>
          <p:cNvCxnSpPr>
            <a:cxnSpLocks/>
          </p:cNvCxnSpPr>
          <p:nvPr/>
        </p:nvCxnSpPr>
        <p:spPr>
          <a:xfrm flipH="1">
            <a:off x="2360612" y="3810001"/>
            <a:ext cx="2590800" cy="0"/>
          </a:xfrm>
          <a:prstGeom prst="straightConnector1">
            <a:avLst/>
          </a:prstGeom>
          <a:ln w="25400">
            <a:solidFill>
              <a:srgbClr val="00B050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ight Brace 36">
            <a:extLst>
              <a:ext uri="{FF2B5EF4-FFF2-40B4-BE49-F238E27FC236}">
                <a16:creationId xmlns:a16="http://schemas.microsoft.com/office/drawing/2014/main" id="{1CFACAF0-036C-28D1-C0B7-017657EF55E9}"/>
              </a:ext>
            </a:extLst>
          </p:cNvPr>
          <p:cNvSpPr/>
          <p:nvPr/>
        </p:nvSpPr>
        <p:spPr>
          <a:xfrm>
            <a:off x="2132012" y="3631141"/>
            <a:ext cx="152400" cy="331259"/>
          </a:xfrm>
          <a:prstGeom prst="rightBrace">
            <a:avLst>
              <a:gd name="adj1" fmla="val 8333"/>
              <a:gd name="adj2" fmla="val 49375"/>
            </a:avLst>
          </a:prstGeom>
          <a:ln w="25400">
            <a:solidFill>
              <a:srgbClr val="00B05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AF73CDA-908E-6AE3-C45E-6E869F411F33}"/>
              </a:ext>
            </a:extLst>
          </p:cNvPr>
          <p:cNvCxnSpPr>
            <a:cxnSpLocks/>
          </p:cNvCxnSpPr>
          <p:nvPr/>
        </p:nvCxnSpPr>
        <p:spPr>
          <a:xfrm flipH="1" flipV="1">
            <a:off x="2360612" y="3561820"/>
            <a:ext cx="2590800" cy="781580"/>
          </a:xfrm>
          <a:prstGeom prst="straightConnector1">
            <a:avLst/>
          </a:prstGeom>
          <a:ln w="25400">
            <a:solidFill>
              <a:srgbClr val="FF0000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9871503-52C7-1140-2573-420BAF4BCAE1}"/>
              </a:ext>
            </a:extLst>
          </p:cNvPr>
          <p:cNvCxnSpPr>
            <a:cxnSpLocks/>
          </p:cNvCxnSpPr>
          <p:nvPr/>
        </p:nvCxnSpPr>
        <p:spPr>
          <a:xfrm flipH="1">
            <a:off x="2436812" y="4343400"/>
            <a:ext cx="2514600" cy="743481"/>
          </a:xfrm>
          <a:prstGeom prst="straightConnector1">
            <a:avLst/>
          </a:prstGeom>
          <a:ln w="25400">
            <a:solidFill>
              <a:srgbClr val="FF0000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itle 44">
            <a:extLst>
              <a:ext uri="{FF2B5EF4-FFF2-40B4-BE49-F238E27FC236}">
                <a16:creationId xmlns:a16="http://schemas.microsoft.com/office/drawing/2014/main" id="{D1A13A6C-72B0-B2E9-B738-E84796482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538645"/>
          </a:xfrm>
        </p:spPr>
        <p:txBody>
          <a:bodyPr/>
          <a:lstStyle/>
          <a:p>
            <a:r>
              <a:rPr lang="en-US" dirty="0"/>
              <a:t>Solid Principles – SRP</a:t>
            </a:r>
          </a:p>
        </p:txBody>
      </p:sp>
    </p:spTree>
    <p:extLst>
      <p:ext uri="{BB962C8B-B14F-4D97-AF65-F5344CB8AC3E}">
        <p14:creationId xmlns:p14="http://schemas.microsoft.com/office/powerpoint/2010/main" val="784202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973F3-40E2-75B2-866A-22D522D23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05DF3EB-6AE5-3E17-389E-20B5D4A67F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89483"/>
            <a:ext cx="12188825" cy="60447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60FD2D5-1EA4-E466-14AC-FE058F4BFF4B}"/>
              </a:ext>
            </a:extLst>
          </p:cNvPr>
          <p:cNvSpPr txBox="1"/>
          <p:nvPr/>
        </p:nvSpPr>
        <p:spPr>
          <a:xfrm>
            <a:off x="4951412" y="1981199"/>
            <a:ext cx="7086600" cy="197592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b="1" u="sng" dirty="0"/>
              <a:t>Open/Closed Principle</a:t>
            </a:r>
          </a:p>
          <a:p>
            <a:pPr>
              <a:lnSpc>
                <a:spcPct val="90000"/>
              </a:lnSpc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 Device: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New device types added without modifying existing code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Smart Scenes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New scenes added via extension, not modification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Alert System: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TimeBasedAlert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EnergyUsageAlert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extend base Alert class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6C6D4CC-074E-1B5C-939D-F4B93027ED22}"/>
              </a:ext>
            </a:extLst>
          </p:cNvPr>
          <p:cNvCxnSpPr>
            <a:cxnSpLocks/>
          </p:cNvCxnSpPr>
          <p:nvPr/>
        </p:nvCxnSpPr>
        <p:spPr>
          <a:xfrm flipH="1" flipV="1">
            <a:off x="1522414" y="2209800"/>
            <a:ext cx="3428998" cy="457200"/>
          </a:xfrm>
          <a:prstGeom prst="straightConnector1">
            <a:avLst/>
          </a:prstGeom>
          <a:ln w="25400"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AF82345-A9AF-7588-8BEB-6CCAA33CE2B2}"/>
              </a:ext>
            </a:extLst>
          </p:cNvPr>
          <p:cNvCxnSpPr>
            <a:cxnSpLocks/>
          </p:cNvCxnSpPr>
          <p:nvPr/>
        </p:nvCxnSpPr>
        <p:spPr>
          <a:xfrm flipH="1">
            <a:off x="2436812" y="3200400"/>
            <a:ext cx="2514600" cy="1524000"/>
          </a:xfrm>
          <a:prstGeom prst="straightConnector1">
            <a:avLst/>
          </a:prstGeom>
          <a:ln w="25400">
            <a:solidFill>
              <a:srgbClr val="00B050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itle 44">
            <a:extLst>
              <a:ext uri="{FF2B5EF4-FFF2-40B4-BE49-F238E27FC236}">
                <a16:creationId xmlns:a16="http://schemas.microsoft.com/office/drawing/2014/main" id="{3FD9C8B3-9CF7-80AF-564F-A2694C073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538645"/>
          </a:xfrm>
        </p:spPr>
        <p:txBody>
          <a:bodyPr/>
          <a:lstStyle/>
          <a:p>
            <a:r>
              <a:rPr lang="en-US" dirty="0"/>
              <a:t>Solid Principles – OCP</a:t>
            </a:r>
          </a:p>
        </p:txBody>
      </p:sp>
    </p:spTree>
    <p:extLst>
      <p:ext uri="{BB962C8B-B14F-4D97-AF65-F5344CB8AC3E}">
        <p14:creationId xmlns:p14="http://schemas.microsoft.com/office/powerpoint/2010/main" val="1553425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22728-1C12-838D-B229-E348DC832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41EBF38-EF99-FFCC-45BE-21AE96243F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89483"/>
            <a:ext cx="12188825" cy="60447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28F6E03-B04D-F0F1-1098-2989B8ADBAFF}"/>
              </a:ext>
            </a:extLst>
          </p:cNvPr>
          <p:cNvSpPr txBox="1"/>
          <p:nvPr/>
        </p:nvSpPr>
        <p:spPr>
          <a:xfrm>
            <a:off x="4951412" y="1981199"/>
            <a:ext cx="7086600" cy="228062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b="1" u="sng" dirty="0" err="1"/>
              <a:t>Liskov</a:t>
            </a:r>
            <a:r>
              <a:rPr lang="en-US" b="1" u="sng" dirty="0"/>
              <a:t> Substitution Principle </a:t>
            </a:r>
            <a:endParaRPr lang="en-US" b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Alert System: All Alert subclasses are substitutable in menu operations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Menu 13: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Alert.getAlertId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works for both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TimeBasedAlert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EnergyUsageAlert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Tx/>
              <a:buChar char="-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Polymorphic usage maintains expected behavior across menu functions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F8BDF9F-06E1-5FA2-7126-2DD4CCC5F0A7}"/>
              </a:ext>
            </a:extLst>
          </p:cNvPr>
          <p:cNvCxnSpPr>
            <a:cxnSpLocks/>
          </p:cNvCxnSpPr>
          <p:nvPr/>
        </p:nvCxnSpPr>
        <p:spPr>
          <a:xfrm flipH="1">
            <a:off x="2513012" y="3276600"/>
            <a:ext cx="2438400" cy="1447800"/>
          </a:xfrm>
          <a:prstGeom prst="straightConnector1">
            <a:avLst/>
          </a:prstGeom>
          <a:ln w="25400"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itle 44">
            <a:extLst>
              <a:ext uri="{FF2B5EF4-FFF2-40B4-BE49-F238E27FC236}">
                <a16:creationId xmlns:a16="http://schemas.microsoft.com/office/drawing/2014/main" id="{3E34E08E-452F-98F8-4396-A37CEAB4A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538645"/>
          </a:xfrm>
        </p:spPr>
        <p:txBody>
          <a:bodyPr/>
          <a:lstStyle/>
          <a:p>
            <a:r>
              <a:rPr lang="en-US" dirty="0"/>
              <a:t>Solid Principles – LSP</a:t>
            </a:r>
          </a:p>
        </p:txBody>
      </p:sp>
    </p:spTree>
    <p:extLst>
      <p:ext uri="{BB962C8B-B14F-4D97-AF65-F5344CB8AC3E}">
        <p14:creationId xmlns:p14="http://schemas.microsoft.com/office/powerpoint/2010/main" val="1084332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8DCA8-12EC-4AFE-FC7C-FDC14DAF5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6389011-FBF6-9BEB-4F5D-23F2F714B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89483"/>
            <a:ext cx="12188825" cy="60447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91C3BC6-BEDD-21CC-BE58-AD3EAFE7EFA8}"/>
              </a:ext>
            </a:extLst>
          </p:cNvPr>
          <p:cNvSpPr txBox="1"/>
          <p:nvPr/>
        </p:nvSpPr>
        <p:spPr>
          <a:xfrm>
            <a:off x="4951412" y="1981199"/>
            <a:ext cx="7086600" cy="8956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b="1" u="sng" dirty="0"/>
              <a:t>Interface Segregation Principle</a:t>
            </a:r>
            <a:endParaRPr lang="en-US" b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 err="1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SmartHomeService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Large class serving multiple menu options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50616EF-DEC5-1DC2-3AED-23CE0CA51A43}"/>
              </a:ext>
            </a:extLst>
          </p:cNvPr>
          <p:cNvCxnSpPr>
            <a:cxnSpLocks/>
          </p:cNvCxnSpPr>
          <p:nvPr/>
        </p:nvCxnSpPr>
        <p:spPr>
          <a:xfrm flipH="1" flipV="1">
            <a:off x="2284412" y="2286000"/>
            <a:ext cx="2667000" cy="381000"/>
          </a:xfrm>
          <a:prstGeom prst="straightConnector1">
            <a:avLst/>
          </a:prstGeom>
          <a:ln w="25400"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itle 44">
            <a:extLst>
              <a:ext uri="{FF2B5EF4-FFF2-40B4-BE49-F238E27FC236}">
                <a16:creationId xmlns:a16="http://schemas.microsoft.com/office/drawing/2014/main" id="{F91D1120-0724-6248-B952-1017B8149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538645"/>
          </a:xfrm>
        </p:spPr>
        <p:txBody>
          <a:bodyPr/>
          <a:lstStyle/>
          <a:p>
            <a:r>
              <a:rPr lang="en-US" dirty="0"/>
              <a:t>Solid Principles – ISP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26DF198-ECFA-690E-9A4F-97EBDAC7A679}"/>
              </a:ext>
            </a:extLst>
          </p:cNvPr>
          <p:cNvCxnSpPr>
            <a:cxnSpLocks/>
          </p:cNvCxnSpPr>
          <p:nvPr/>
        </p:nvCxnSpPr>
        <p:spPr>
          <a:xfrm flipH="1">
            <a:off x="2360612" y="2667000"/>
            <a:ext cx="2590800" cy="838200"/>
          </a:xfrm>
          <a:prstGeom prst="straightConnector1">
            <a:avLst/>
          </a:prstGeom>
          <a:ln w="25400"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40BB972-B395-DE49-D482-E18028DFE887}"/>
              </a:ext>
            </a:extLst>
          </p:cNvPr>
          <p:cNvCxnSpPr>
            <a:cxnSpLocks/>
          </p:cNvCxnSpPr>
          <p:nvPr/>
        </p:nvCxnSpPr>
        <p:spPr>
          <a:xfrm flipH="1">
            <a:off x="2741612" y="2667000"/>
            <a:ext cx="2209800" cy="2209800"/>
          </a:xfrm>
          <a:prstGeom prst="straightConnector1">
            <a:avLst/>
          </a:prstGeom>
          <a:ln w="25400"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ight Brace 12">
            <a:extLst>
              <a:ext uri="{FF2B5EF4-FFF2-40B4-BE49-F238E27FC236}">
                <a16:creationId xmlns:a16="http://schemas.microsoft.com/office/drawing/2014/main" id="{EE296DDC-F235-D81C-0E71-32ACE52D5994}"/>
              </a:ext>
            </a:extLst>
          </p:cNvPr>
          <p:cNvSpPr/>
          <p:nvPr/>
        </p:nvSpPr>
        <p:spPr>
          <a:xfrm>
            <a:off x="2133599" y="2057400"/>
            <a:ext cx="120333" cy="457200"/>
          </a:xfrm>
          <a:prstGeom prst="rightBrace">
            <a:avLst/>
          </a:prstGeom>
          <a:ln w="25400"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2B45B649-AB3E-7299-D906-36C6EE9324A2}"/>
              </a:ext>
            </a:extLst>
          </p:cNvPr>
          <p:cNvSpPr/>
          <p:nvPr/>
        </p:nvSpPr>
        <p:spPr>
          <a:xfrm>
            <a:off x="2513013" y="4648200"/>
            <a:ext cx="152400" cy="533400"/>
          </a:xfrm>
          <a:prstGeom prst="rightBrace">
            <a:avLst/>
          </a:prstGeom>
          <a:ln w="25400"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19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2523B-630E-BAAF-6757-6F616E3BC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0934625-AE68-B330-F577-6E1915738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89483"/>
            <a:ext cx="12188825" cy="60447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DE2D147-0E79-333A-84C9-984AB3B35FDF}"/>
              </a:ext>
            </a:extLst>
          </p:cNvPr>
          <p:cNvSpPr txBox="1"/>
          <p:nvPr/>
        </p:nvSpPr>
        <p:spPr>
          <a:xfrm>
            <a:off x="4951412" y="1981199"/>
            <a:ext cx="7086600" cy="11449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b="1" u="sng" dirty="0"/>
              <a:t>Dependency Inversion Principle:</a:t>
            </a:r>
          </a:p>
          <a:p>
            <a:pPr>
              <a:lnSpc>
                <a:spcPct val="90000"/>
              </a:lnSpc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Direct Dependencies: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SmartHomeService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directly instantiates other services</a:t>
            </a:r>
          </a:p>
        </p:txBody>
      </p:sp>
      <p:sp>
        <p:nvSpPr>
          <p:cNvPr id="45" name="Title 44">
            <a:extLst>
              <a:ext uri="{FF2B5EF4-FFF2-40B4-BE49-F238E27FC236}">
                <a16:creationId xmlns:a16="http://schemas.microsoft.com/office/drawing/2014/main" id="{8F492647-CBF3-8205-08FD-91F30DB75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538645"/>
          </a:xfrm>
        </p:spPr>
        <p:txBody>
          <a:bodyPr/>
          <a:lstStyle/>
          <a:p>
            <a:r>
              <a:rPr lang="en-US" dirty="0"/>
              <a:t>Solid Principles – DIP</a:t>
            </a:r>
          </a:p>
        </p:txBody>
      </p:sp>
    </p:spTree>
    <p:extLst>
      <p:ext uri="{BB962C8B-B14F-4D97-AF65-F5344CB8AC3E}">
        <p14:creationId xmlns:p14="http://schemas.microsoft.com/office/powerpoint/2010/main" val="3505155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4E73A-EE14-CD8F-35D2-D37E38272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6DEDD18-7C3C-3494-D0C4-C483E3F3BB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89483"/>
            <a:ext cx="12188825" cy="60447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B0F0974-1A43-4296-D513-F32D42D555E2}"/>
              </a:ext>
            </a:extLst>
          </p:cNvPr>
          <p:cNvSpPr txBox="1"/>
          <p:nvPr/>
        </p:nvSpPr>
        <p:spPr>
          <a:xfrm>
            <a:off x="4951412" y="1981199"/>
            <a:ext cx="7086600" cy="136652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b="1" u="sng" dirty="0"/>
              <a:t>Singleton Pattern:</a:t>
            </a:r>
          </a:p>
          <a:p>
            <a:pPr>
              <a:lnSpc>
                <a:spcPct val="90000"/>
              </a:lnSpc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Ensures single instance for shared scheduling and monitoring resources</a:t>
            </a:r>
          </a:p>
          <a:p>
            <a:pPr>
              <a:lnSpc>
                <a:spcPct val="90000"/>
              </a:lnSpc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TimerService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AlertService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CalendarEventService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Title 44">
            <a:extLst>
              <a:ext uri="{FF2B5EF4-FFF2-40B4-BE49-F238E27FC236}">
                <a16:creationId xmlns:a16="http://schemas.microsoft.com/office/drawing/2014/main" id="{500B752A-4890-517D-3E8F-31AAA8256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538645"/>
          </a:xfrm>
        </p:spPr>
        <p:txBody>
          <a:bodyPr/>
          <a:lstStyle/>
          <a:p>
            <a:r>
              <a:rPr lang="en-US" dirty="0"/>
              <a:t>Design Patterns – Singleton Pattern</a:t>
            </a:r>
          </a:p>
        </p:txBody>
      </p:sp>
      <p:sp>
        <p:nvSpPr>
          <p:cNvPr id="2" name="Right Brace 1">
            <a:extLst>
              <a:ext uri="{FF2B5EF4-FFF2-40B4-BE49-F238E27FC236}">
                <a16:creationId xmlns:a16="http://schemas.microsoft.com/office/drawing/2014/main" id="{F2E7E772-9CE9-8459-6215-660F3CCFC20A}"/>
              </a:ext>
            </a:extLst>
          </p:cNvPr>
          <p:cNvSpPr/>
          <p:nvPr/>
        </p:nvSpPr>
        <p:spPr>
          <a:xfrm>
            <a:off x="2208212" y="3657600"/>
            <a:ext cx="609600" cy="1371600"/>
          </a:xfrm>
          <a:prstGeom prst="rightBrace">
            <a:avLst/>
          </a:prstGeom>
          <a:ln w="25400"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1B83D1A-E577-6498-267C-BA9B7D3B254E}"/>
              </a:ext>
            </a:extLst>
          </p:cNvPr>
          <p:cNvCxnSpPr>
            <a:cxnSpLocks/>
          </p:cNvCxnSpPr>
          <p:nvPr/>
        </p:nvCxnSpPr>
        <p:spPr>
          <a:xfrm flipH="1">
            <a:off x="2817812" y="2849129"/>
            <a:ext cx="2133600" cy="1494271"/>
          </a:xfrm>
          <a:prstGeom prst="straightConnector1">
            <a:avLst/>
          </a:prstGeom>
          <a:ln w="25400"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9719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5E0F0-A4E9-C175-FF87-7B643CEDC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F495B17-26AC-384D-2717-AFB79B25A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89483"/>
            <a:ext cx="12188825" cy="60447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2F900A5-1C0F-A606-D4E1-94B28EAE2486}"/>
              </a:ext>
            </a:extLst>
          </p:cNvPr>
          <p:cNvSpPr txBox="1"/>
          <p:nvPr/>
        </p:nvSpPr>
        <p:spPr>
          <a:xfrm>
            <a:off x="4951412" y="1981199"/>
            <a:ext cx="7086600" cy="139422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b="1" u="sng" dirty="0"/>
              <a:t>Factory Pattern:</a:t>
            </a:r>
          </a:p>
          <a:p>
            <a:pPr>
              <a:lnSpc>
                <a:spcPct val="90000"/>
              </a:lnSpc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Handles complex object creation with validation for 14+ device types</a:t>
            </a:r>
          </a:p>
          <a:p>
            <a:pPr>
              <a:lnSpc>
                <a:spcPct val="90000"/>
              </a:lnSpc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creation, Device creation</a:t>
            </a:r>
          </a:p>
        </p:txBody>
      </p:sp>
      <p:sp>
        <p:nvSpPr>
          <p:cNvPr id="45" name="Title 44">
            <a:extLst>
              <a:ext uri="{FF2B5EF4-FFF2-40B4-BE49-F238E27FC236}">
                <a16:creationId xmlns:a16="http://schemas.microsoft.com/office/drawing/2014/main" id="{782E5E7E-FA6C-8BFC-296C-2E20ED51B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538645"/>
          </a:xfrm>
        </p:spPr>
        <p:txBody>
          <a:bodyPr/>
          <a:lstStyle/>
          <a:p>
            <a:r>
              <a:rPr lang="en-US" dirty="0"/>
              <a:t>Design Patterns – Factory Pattern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3EF0ECB-52EC-D883-3432-DDF5B56236E2}"/>
              </a:ext>
            </a:extLst>
          </p:cNvPr>
          <p:cNvCxnSpPr>
            <a:cxnSpLocks/>
          </p:cNvCxnSpPr>
          <p:nvPr/>
        </p:nvCxnSpPr>
        <p:spPr>
          <a:xfrm flipH="1" flipV="1">
            <a:off x="1827212" y="1295400"/>
            <a:ext cx="3124200" cy="1553729"/>
          </a:xfrm>
          <a:prstGeom prst="straightConnector1">
            <a:avLst/>
          </a:prstGeom>
          <a:ln w="25400"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D550140-25CF-A51E-1BE8-EF50FF997CB5}"/>
              </a:ext>
            </a:extLst>
          </p:cNvPr>
          <p:cNvCxnSpPr>
            <a:cxnSpLocks/>
          </p:cNvCxnSpPr>
          <p:nvPr/>
        </p:nvCxnSpPr>
        <p:spPr>
          <a:xfrm flipH="1" flipV="1">
            <a:off x="1446212" y="2209800"/>
            <a:ext cx="3505200" cy="639329"/>
          </a:xfrm>
          <a:prstGeom prst="straightConnector1">
            <a:avLst/>
          </a:prstGeom>
          <a:ln w="25400"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2790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153FA-97EC-1228-16B3-F4D602598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D32D839-437F-8997-B0A2-1BE6F5B6EA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89483"/>
            <a:ext cx="12188825" cy="60447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ABF20CF-AAC7-6A85-9DA9-E84EA4A58F57}"/>
              </a:ext>
            </a:extLst>
          </p:cNvPr>
          <p:cNvSpPr txBox="1"/>
          <p:nvPr/>
        </p:nvSpPr>
        <p:spPr>
          <a:xfrm>
            <a:off x="4951412" y="1981199"/>
            <a:ext cx="7086600" cy="142192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b="1" u="sng" dirty="0"/>
              <a:t>Command Pattern:</a:t>
            </a:r>
          </a:p>
          <a:p>
            <a:pPr>
              <a:lnSpc>
                <a:spcPct val="90000"/>
              </a:lnSpc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/>
              <a:t>Encapsulates operations, supports undo/redo, enables macro commands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/>
              <a:t>Device control, Scene execution, System operations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Title 44">
            <a:extLst>
              <a:ext uri="{FF2B5EF4-FFF2-40B4-BE49-F238E27FC236}">
                <a16:creationId xmlns:a16="http://schemas.microsoft.com/office/drawing/2014/main" id="{D7ECF176-8837-3F88-49F0-2AE7ADADA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538645"/>
          </a:xfrm>
        </p:spPr>
        <p:txBody>
          <a:bodyPr/>
          <a:lstStyle/>
          <a:p>
            <a:r>
              <a:rPr lang="en-US" dirty="0"/>
              <a:t>Design Patterns – Command Pattern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3840E1B-2264-0757-2760-B226AECC4B91}"/>
              </a:ext>
            </a:extLst>
          </p:cNvPr>
          <p:cNvCxnSpPr>
            <a:cxnSpLocks/>
          </p:cNvCxnSpPr>
          <p:nvPr/>
        </p:nvCxnSpPr>
        <p:spPr>
          <a:xfrm flipH="1" flipV="1">
            <a:off x="1979612" y="2514600"/>
            <a:ext cx="2971800" cy="334529"/>
          </a:xfrm>
          <a:prstGeom prst="straightConnector1">
            <a:avLst/>
          </a:prstGeom>
          <a:ln w="25400"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39BF9C8-86BE-D7B3-41F5-D6C46C2C5DB2}"/>
              </a:ext>
            </a:extLst>
          </p:cNvPr>
          <p:cNvCxnSpPr>
            <a:cxnSpLocks/>
          </p:cNvCxnSpPr>
          <p:nvPr/>
        </p:nvCxnSpPr>
        <p:spPr>
          <a:xfrm flipH="1">
            <a:off x="2436812" y="2849129"/>
            <a:ext cx="2514600" cy="1875271"/>
          </a:xfrm>
          <a:prstGeom prst="straightConnector1">
            <a:avLst/>
          </a:prstGeom>
          <a:ln w="25400"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1BCB63F-5976-968D-2625-AE015B42411C}"/>
              </a:ext>
            </a:extLst>
          </p:cNvPr>
          <p:cNvCxnSpPr>
            <a:cxnSpLocks/>
          </p:cNvCxnSpPr>
          <p:nvPr/>
        </p:nvCxnSpPr>
        <p:spPr>
          <a:xfrm flipH="1">
            <a:off x="1827212" y="2849129"/>
            <a:ext cx="3124200" cy="3119388"/>
          </a:xfrm>
          <a:prstGeom prst="straightConnector1">
            <a:avLst/>
          </a:prstGeom>
          <a:ln w="25400"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ight Brace 12">
            <a:extLst>
              <a:ext uri="{FF2B5EF4-FFF2-40B4-BE49-F238E27FC236}">
                <a16:creationId xmlns:a16="http://schemas.microsoft.com/office/drawing/2014/main" id="{DA1A9167-2BDB-155D-C161-270FDCC33EAD}"/>
              </a:ext>
            </a:extLst>
          </p:cNvPr>
          <p:cNvSpPr/>
          <p:nvPr/>
        </p:nvSpPr>
        <p:spPr>
          <a:xfrm>
            <a:off x="1674812" y="5715000"/>
            <a:ext cx="152400" cy="457200"/>
          </a:xfrm>
          <a:prstGeom prst="rightBrace">
            <a:avLst/>
          </a:prstGeom>
          <a:ln w="25400"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433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D8C1C-3B62-E2F6-CBA0-0AC55A64D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1E27235-2124-1986-71FF-869C2C7EAC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89483"/>
            <a:ext cx="12188825" cy="60447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BB250D6-1E74-783D-778F-82364CD464C5}"/>
              </a:ext>
            </a:extLst>
          </p:cNvPr>
          <p:cNvSpPr txBox="1"/>
          <p:nvPr/>
        </p:nvSpPr>
        <p:spPr>
          <a:xfrm>
            <a:off x="4951412" y="1981199"/>
            <a:ext cx="7086600" cy="142192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b="1" u="sng" dirty="0"/>
              <a:t>Observer Pattern:</a:t>
            </a:r>
          </a:p>
          <a:p>
            <a:pPr>
              <a:lnSpc>
                <a:spcPct val="90000"/>
              </a:lnSpc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/>
              <a:t>Decouples event producers from consumers, enables real-time updates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/>
              <a:t>Status monitoring, Timer events, Calendar automation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Title 44">
            <a:extLst>
              <a:ext uri="{FF2B5EF4-FFF2-40B4-BE49-F238E27FC236}">
                <a16:creationId xmlns:a16="http://schemas.microsoft.com/office/drawing/2014/main" id="{CD7BEB10-CFDB-2479-6395-3181B24BC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538645"/>
          </a:xfrm>
        </p:spPr>
        <p:txBody>
          <a:bodyPr/>
          <a:lstStyle/>
          <a:p>
            <a:r>
              <a:rPr lang="en-US" dirty="0"/>
              <a:t>Design Patterns – Observer Pattern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1B62C41-1598-70C3-18AB-B02452804D23}"/>
              </a:ext>
            </a:extLst>
          </p:cNvPr>
          <p:cNvCxnSpPr>
            <a:cxnSpLocks/>
          </p:cNvCxnSpPr>
          <p:nvPr/>
        </p:nvCxnSpPr>
        <p:spPr>
          <a:xfrm flipH="1" flipV="1">
            <a:off x="2132012" y="2362200"/>
            <a:ext cx="2819400" cy="486929"/>
          </a:xfrm>
          <a:prstGeom prst="straightConnector1">
            <a:avLst/>
          </a:prstGeom>
          <a:ln w="25400"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D71DFDD-44FD-A48E-3B89-AAC967037ED0}"/>
              </a:ext>
            </a:extLst>
          </p:cNvPr>
          <p:cNvCxnSpPr>
            <a:cxnSpLocks/>
          </p:cNvCxnSpPr>
          <p:nvPr/>
        </p:nvCxnSpPr>
        <p:spPr>
          <a:xfrm flipH="1">
            <a:off x="2132012" y="2849129"/>
            <a:ext cx="2819400" cy="884671"/>
          </a:xfrm>
          <a:prstGeom prst="straightConnector1">
            <a:avLst/>
          </a:prstGeom>
          <a:ln w="25400"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0CF92D4-7F1A-FB2B-23C1-8A9E012D0E8D}"/>
              </a:ext>
            </a:extLst>
          </p:cNvPr>
          <p:cNvCxnSpPr>
            <a:cxnSpLocks/>
          </p:cNvCxnSpPr>
          <p:nvPr/>
        </p:nvCxnSpPr>
        <p:spPr>
          <a:xfrm flipH="1">
            <a:off x="2055812" y="2849129"/>
            <a:ext cx="2895600" cy="1189471"/>
          </a:xfrm>
          <a:prstGeom prst="straightConnector1">
            <a:avLst/>
          </a:prstGeom>
          <a:ln w="25400"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2308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5A271-6FE3-5767-A2C0-AA364B0B3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3E8C5AE-6A96-603D-A1BA-8DEDA08C0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89483"/>
            <a:ext cx="12188825" cy="60447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C95763C-E22C-AB63-AB6A-6B4673A36D3D}"/>
              </a:ext>
            </a:extLst>
          </p:cNvPr>
          <p:cNvSpPr txBox="1"/>
          <p:nvPr/>
        </p:nvSpPr>
        <p:spPr>
          <a:xfrm>
            <a:off x="4951412" y="1981199"/>
            <a:ext cx="7086600" cy="142192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b="1" u="sng" dirty="0"/>
              <a:t>Strategy Pattern:</a:t>
            </a:r>
          </a:p>
          <a:p>
            <a:pPr>
              <a:lnSpc>
                <a:spcPct val="90000"/>
              </a:lnSpc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/>
              <a:t>Supports multiple algorithms, easy to add new strategies</a:t>
            </a:r>
          </a:p>
          <a:p>
            <a:endParaRPr lang="en-US" dirty="0"/>
          </a:p>
          <a:p>
            <a:r>
              <a:rPr lang="en-US" dirty="0"/>
              <a:t>Authentication strategies, Energy pricing, Weather responses, Analytics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Title 44">
            <a:extLst>
              <a:ext uri="{FF2B5EF4-FFF2-40B4-BE49-F238E27FC236}">
                <a16:creationId xmlns:a16="http://schemas.microsoft.com/office/drawing/2014/main" id="{2B31F967-37C1-0783-0847-575F9BD9C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538645"/>
          </a:xfrm>
        </p:spPr>
        <p:txBody>
          <a:bodyPr/>
          <a:lstStyle/>
          <a:p>
            <a:r>
              <a:rPr lang="en-US" dirty="0"/>
              <a:t>Design Patterns – Strategy Pattern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317B841-A541-2EE0-B672-14D3CD8DF42B}"/>
              </a:ext>
            </a:extLst>
          </p:cNvPr>
          <p:cNvCxnSpPr>
            <a:cxnSpLocks/>
          </p:cNvCxnSpPr>
          <p:nvPr/>
        </p:nvCxnSpPr>
        <p:spPr>
          <a:xfrm flipH="1" flipV="1">
            <a:off x="912812" y="1447800"/>
            <a:ext cx="4038600" cy="1401329"/>
          </a:xfrm>
          <a:prstGeom prst="straightConnector1">
            <a:avLst/>
          </a:prstGeom>
          <a:ln w="25400"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02CB452-49CB-46A5-5F77-5F1AD7860851}"/>
              </a:ext>
            </a:extLst>
          </p:cNvPr>
          <p:cNvCxnSpPr>
            <a:cxnSpLocks/>
          </p:cNvCxnSpPr>
          <p:nvPr/>
        </p:nvCxnSpPr>
        <p:spPr>
          <a:xfrm flipH="1">
            <a:off x="2360612" y="2849129"/>
            <a:ext cx="2590800" cy="732271"/>
          </a:xfrm>
          <a:prstGeom prst="straightConnector1">
            <a:avLst/>
          </a:prstGeom>
          <a:ln w="25400"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64D8ABF-910A-3F0D-421C-F86EAE8F152F}"/>
              </a:ext>
            </a:extLst>
          </p:cNvPr>
          <p:cNvCxnSpPr>
            <a:cxnSpLocks/>
          </p:cNvCxnSpPr>
          <p:nvPr/>
        </p:nvCxnSpPr>
        <p:spPr>
          <a:xfrm flipH="1">
            <a:off x="2360612" y="2849129"/>
            <a:ext cx="2590800" cy="1418071"/>
          </a:xfrm>
          <a:prstGeom prst="straightConnector1">
            <a:avLst/>
          </a:prstGeom>
          <a:ln w="25400"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5FEA945-E930-E62E-27F3-32E222F3459E}"/>
              </a:ext>
            </a:extLst>
          </p:cNvPr>
          <p:cNvCxnSpPr>
            <a:cxnSpLocks/>
          </p:cNvCxnSpPr>
          <p:nvPr/>
        </p:nvCxnSpPr>
        <p:spPr>
          <a:xfrm flipH="1">
            <a:off x="2436812" y="2849129"/>
            <a:ext cx="2514600" cy="2256271"/>
          </a:xfrm>
          <a:prstGeom prst="straightConnector1">
            <a:avLst/>
          </a:prstGeom>
          <a:ln w="25400"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4081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B70DF-C5C1-779B-6021-E4DCBA041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3E67AC4-25F1-E442-D04F-CD8902906A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89483"/>
            <a:ext cx="12188825" cy="60447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9F9020C-9721-1FFF-004F-144FD70885AF}"/>
              </a:ext>
            </a:extLst>
          </p:cNvPr>
          <p:cNvSpPr txBox="1"/>
          <p:nvPr/>
        </p:nvSpPr>
        <p:spPr>
          <a:xfrm>
            <a:off x="4951412" y="1981199"/>
            <a:ext cx="7086600" cy="142192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b="1" u="sng" dirty="0"/>
              <a:t>Template Method Pattern:</a:t>
            </a:r>
          </a:p>
          <a:p>
            <a:pPr>
              <a:lnSpc>
                <a:spcPct val="90000"/>
              </a:lnSpc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/>
              <a:t>Defines skeleton of algorithm, specific steps implemented by subclasses</a:t>
            </a:r>
          </a:p>
          <a:p>
            <a:endParaRPr lang="en-US" dirty="0"/>
          </a:p>
          <a:p>
            <a:r>
              <a:rPr lang="en-US" dirty="0"/>
              <a:t>Schedule display, Health reports, Settings, Shutdown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Title 44">
            <a:extLst>
              <a:ext uri="{FF2B5EF4-FFF2-40B4-BE49-F238E27FC236}">
                <a16:creationId xmlns:a16="http://schemas.microsoft.com/office/drawing/2014/main" id="{7BBCA5E7-D956-F632-FC3A-AF5D20F8B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538645"/>
          </a:xfrm>
        </p:spPr>
        <p:txBody>
          <a:bodyPr/>
          <a:lstStyle/>
          <a:p>
            <a:r>
              <a:rPr lang="en-US" dirty="0"/>
              <a:t>Design Patterns – Template Method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2B6CCB1-DC7C-0620-791F-07C798993AAF}"/>
              </a:ext>
            </a:extLst>
          </p:cNvPr>
          <p:cNvCxnSpPr>
            <a:cxnSpLocks/>
          </p:cNvCxnSpPr>
          <p:nvPr/>
        </p:nvCxnSpPr>
        <p:spPr>
          <a:xfrm flipH="1">
            <a:off x="2132012" y="2849129"/>
            <a:ext cx="2819400" cy="1037071"/>
          </a:xfrm>
          <a:prstGeom prst="straightConnector1">
            <a:avLst/>
          </a:prstGeom>
          <a:ln w="25400"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521A9EB-3278-61FF-8BD3-23463E2DDEF1}"/>
              </a:ext>
            </a:extLst>
          </p:cNvPr>
          <p:cNvCxnSpPr>
            <a:cxnSpLocks/>
          </p:cNvCxnSpPr>
          <p:nvPr/>
        </p:nvCxnSpPr>
        <p:spPr>
          <a:xfrm flipH="1">
            <a:off x="2360612" y="2849129"/>
            <a:ext cx="2590800" cy="2027671"/>
          </a:xfrm>
          <a:prstGeom prst="straightConnector1">
            <a:avLst/>
          </a:prstGeom>
          <a:ln w="25400"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E45CD5F-4E64-FDDE-336B-8BEE4A0AB322}"/>
              </a:ext>
            </a:extLst>
          </p:cNvPr>
          <p:cNvCxnSpPr>
            <a:cxnSpLocks/>
          </p:cNvCxnSpPr>
          <p:nvPr/>
        </p:nvCxnSpPr>
        <p:spPr>
          <a:xfrm flipH="1">
            <a:off x="1674812" y="2849129"/>
            <a:ext cx="3276600" cy="2789671"/>
          </a:xfrm>
          <a:prstGeom prst="straightConnector1">
            <a:avLst/>
          </a:prstGeom>
          <a:ln w="25400"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A0CB2A7-E7D2-AA61-D81F-234F0496B8DA}"/>
              </a:ext>
            </a:extLst>
          </p:cNvPr>
          <p:cNvCxnSpPr>
            <a:cxnSpLocks/>
          </p:cNvCxnSpPr>
          <p:nvPr/>
        </p:nvCxnSpPr>
        <p:spPr>
          <a:xfrm flipH="1">
            <a:off x="1674812" y="2849129"/>
            <a:ext cx="3276600" cy="3246871"/>
          </a:xfrm>
          <a:prstGeom prst="straightConnector1">
            <a:avLst/>
          </a:prstGeom>
          <a:ln w="25400"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0265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F4AAC-2695-47B4-98BC-4409F9D60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5A09908-1E3F-B0F6-523E-944243CC8E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89483"/>
            <a:ext cx="12188825" cy="60447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8C0B6F-8395-B83A-9A77-A6E564781BDD}"/>
              </a:ext>
            </a:extLst>
          </p:cNvPr>
          <p:cNvSpPr txBox="1"/>
          <p:nvPr/>
        </p:nvSpPr>
        <p:spPr>
          <a:xfrm>
            <a:off x="4951412" y="1985301"/>
            <a:ext cx="7086600" cy="142192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b="1" u="sng" dirty="0"/>
              <a:t>Composite Pattern:</a:t>
            </a:r>
          </a:p>
          <a:p>
            <a:pPr>
              <a:lnSpc>
                <a:spcPct val="90000"/>
              </a:lnSpc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/>
              <a:t>Handles hierarchical structures uniformly</a:t>
            </a:r>
          </a:p>
          <a:p>
            <a:endParaRPr lang="en-US" dirty="0"/>
          </a:p>
          <a:p>
            <a:r>
              <a:rPr lang="en-US" dirty="0"/>
              <a:t>User Groups with nested permissions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Title 44">
            <a:extLst>
              <a:ext uri="{FF2B5EF4-FFF2-40B4-BE49-F238E27FC236}">
                <a16:creationId xmlns:a16="http://schemas.microsoft.com/office/drawing/2014/main" id="{6F53F652-5BCD-DE63-9809-B3BDEB3C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538645"/>
          </a:xfrm>
        </p:spPr>
        <p:txBody>
          <a:bodyPr/>
          <a:lstStyle/>
          <a:p>
            <a:r>
              <a:rPr lang="en-US" dirty="0"/>
              <a:t>Design Patterns – Composite Pattern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0BD14A2-F0B1-01F8-2738-D2C47EC5E340}"/>
              </a:ext>
            </a:extLst>
          </p:cNvPr>
          <p:cNvCxnSpPr>
            <a:cxnSpLocks/>
          </p:cNvCxnSpPr>
          <p:nvPr/>
        </p:nvCxnSpPr>
        <p:spPr>
          <a:xfrm flipH="1">
            <a:off x="1827212" y="2696265"/>
            <a:ext cx="3124200" cy="351735"/>
          </a:xfrm>
          <a:prstGeom prst="straightConnector1">
            <a:avLst/>
          </a:prstGeom>
          <a:ln w="25400"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670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C64FC-D032-FD5E-53DC-6CA3B769E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D5C5FE4-FE68-2ADF-5C0E-D8E492E77B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89483"/>
            <a:ext cx="12188825" cy="60447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B8C5004-F4D9-746B-2584-8A7E1DD59D39}"/>
              </a:ext>
            </a:extLst>
          </p:cNvPr>
          <p:cNvSpPr txBox="1"/>
          <p:nvPr/>
        </p:nvSpPr>
        <p:spPr>
          <a:xfrm>
            <a:off x="4951412" y="1985301"/>
            <a:ext cx="7086600" cy="142192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b="1" u="sng" dirty="0"/>
              <a:t>Repository Pattern:</a:t>
            </a:r>
          </a:p>
          <a:p>
            <a:pPr>
              <a:lnSpc>
                <a:spcPct val="90000"/>
              </a:lnSpc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/>
              <a:t>Abstracts data access, centralizes database operations</a:t>
            </a:r>
          </a:p>
          <a:p>
            <a:endParaRPr lang="en-US" dirty="0"/>
          </a:p>
          <a:p>
            <a:r>
              <a:rPr lang="en-US" dirty="0"/>
              <a:t>All Database Operations: </a:t>
            </a:r>
            <a:r>
              <a:rPr lang="en-US" dirty="0" err="1"/>
              <a:t>CustomerService</a:t>
            </a:r>
            <a:r>
              <a:rPr lang="en-US" dirty="0"/>
              <a:t> acts as repository</a:t>
            </a:r>
          </a:p>
        </p:txBody>
      </p:sp>
      <p:sp>
        <p:nvSpPr>
          <p:cNvPr id="45" name="Title 44">
            <a:extLst>
              <a:ext uri="{FF2B5EF4-FFF2-40B4-BE49-F238E27FC236}">
                <a16:creationId xmlns:a16="http://schemas.microsoft.com/office/drawing/2014/main" id="{EA1B678E-9F0B-345D-931B-F7B7E5BE4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538645"/>
          </a:xfrm>
        </p:spPr>
        <p:txBody>
          <a:bodyPr/>
          <a:lstStyle/>
          <a:p>
            <a:r>
              <a:rPr lang="en-US" dirty="0"/>
              <a:t>Design Patterns – Repository Pattern</a:t>
            </a:r>
          </a:p>
        </p:txBody>
      </p:sp>
    </p:spTree>
    <p:extLst>
      <p:ext uri="{BB962C8B-B14F-4D97-AF65-F5344CB8AC3E}">
        <p14:creationId xmlns:p14="http://schemas.microsoft.com/office/powerpoint/2010/main" val="2324863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873CDCC-BCC3-89EB-8386-13EAF76D05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212" y="0"/>
            <a:ext cx="7924800" cy="6817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928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 anchor="ctr" anchorCtr="0">
            <a:normAutofit/>
          </a:bodyPr>
          <a:lstStyle/>
          <a:p>
            <a:pPr marL="0" indent="0" algn="ctr">
              <a:buNone/>
            </a:pPr>
            <a:r>
              <a:rPr lang="en-US" sz="72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Pristina" panose="03060402040406080204" pitchFamily="66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97304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halkboard 16x9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/>
        </a:blipFill>
      </a:bgFillStyleLst>
    </a:fmtScheme>
  </a:themeElements>
  <a:objectDefaults>
    <a:spDef>
      <a:spPr>
        <a:ln>
          <a:miter lim="800000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0001018.potx" id="{D19C2884-2C55-4C1A-A5C2-5D03FF1F35A4}" vid="{5F7A9C6A-558C-4654-B762-2F22BC904FAE}"/>
    </a:ext>
  </a:extLst>
</a:theme>
</file>

<file path=ppt/theme/theme2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Chalkboard education presentation (widescreen)</Template>
  <TotalTime>741</TotalTime>
  <Words>739</Words>
  <Application>Microsoft Office PowerPoint</Application>
  <PresentationFormat>Custom</PresentationFormat>
  <Paragraphs>155</Paragraphs>
  <Slides>24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Aptos</vt:lpstr>
      <vt:lpstr>Arial</vt:lpstr>
      <vt:lpstr>Calibri</vt:lpstr>
      <vt:lpstr>Consolas</vt:lpstr>
      <vt:lpstr>Corbel</vt:lpstr>
      <vt:lpstr>Footlight MT Light</vt:lpstr>
      <vt:lpstr>Pristina</vt:lpstr>
      <vt:lpstr>Rockwell</vt:lpstr>
      <vt:lpstr>Chalkboard 16x9</vt:lpstr>
      <vt:lpstr>IoT Smart Home Dashboard</vt:lpstr>
      <vt:lpstr>Introduction</vt:lpstr>
      <vt:lpstr>Architecture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Solid Principles – SRP</vt:lpstr>
      <vt:lpstr>Solid Principles – OCP</vt:lpstr>
      <vt:lpstr>Solid Principles – LSP</vt:lpstr>
      <vt:lpstr>Solid Principles – ISP</vt:lpstr>
      <vt:lpstr>Solid Principles – DIP</vt:lpstr>
      <vt:lpstr>Design Patterns – Singleton Pattern</vt:lpstr>
      <vt:lpstr>Design Patterns – Factory Pattern</vt:lpstr>
      <vt:lpstr>Design Patterns – Command Pattern</vt:lpstr>
      <vt:lpstr>Design Patterns – Observer Pattern</vt:lpstr>
      <vt:lpstr>Design Patterns – Strategy Pattern</vt:lpstr>
      <vt:lpstr>Design Patterns – Template Method</vt:lpstr>
      <vt:lpstr>Design Patterns – Composite Pattern</vt:lpstr>
      <vt:lpstr>Design Patterns – Repository Pattern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lastModifiedBy>Mainampati, Sushma</cp:lastModifiedBy>
  <cp:revision>2</cp:revision>
  <dcterms:created xsi:type="dcterms:W3CDTF">2025-09-15T01:56:27Z</dcterms:created>
  <dcterms:modified xsi:type="dcterms:W3CDTF">2025-10-14T12:36:53Z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8f49a32-fde3-48a5-9266-b5b0972a22dc_Enabled">
    <vt:lpwstr>true</vt:lpwstr>
  </property>
  <property fmtid="{D5CDD505-2E9C-101B-9397-08002B2CF9AE}" pid="3" name="MSIP_Label_c8f49a32-fde3-48a5-9266-b5b0972a22dc_SetDate">
    <vt:lpwstr>2025-09-15T02:04:10Z</vt:lpwstr>
  </property>
  <property fmtid="{D5CDD505-2E9C-101B-9397-08002B2CF9AE}" pid="4" name="MSIP_Label_c8f49a32-fde3-48a5-9266-b5b0972a22dc_Method">
    <vt:lpwstr>Standard</vt:lpwstr>
  </property>
  <property fmtid="{D5CDD505-2E9C-101B-9397-08002B2CF9AE}" pid="5" name="MSIP_Label_c8f49a32-fde3-48a5-9266-b5b0972a22dc_Name">
    <vt:lpwstr>Cisco Confidential</vt:lpwstr>
  </property>
  <property fmtid="{D5CDD505-2E9C-101B-9397-08002B2CF9AE}" pid="6" name="MSIP_Label_c8f49a32-fde3-48a5-9266-b5b0972a22dc_SiteId">
    <vt:lpwstr>5ae1af62-9505-4097-a69a-c1553ef7840e</vt:lpwstr>
  </property>
  <property fmtid="{D5CDD505-2E9C-101B-9397-08002B2CF9AE}" pid="7" name="MSIP_Label_c8f49a32-fde3-48a5-9266-b5b0972a22dc_ActionId">
    <vt:lpwstr>b823639b-f237-4b0a-8e17-e2d04fa4cee9</vt:lpwstr>
  </property>
  <property fmtid="{D5CDD505-2E9C-101B-9397-08002B2CF9AE}" pid="8" name="MSIP_Label_c8f49a32-fde3-48a5-9266-b5b0972a22dc_ContentBits">
    <vt:lpwstr>2</vt:lpwstr>
  </property>
  <property fmtid="{D5CDD505-2E9C-101B-9397-08002B2CF9AE}" pid="9" name="MSIP_Label_c8f49a32-fde3-48a5-9266-b5b0972a22dc_Tag">
    <vt:lpwstr>10, 3, 0, 1</vt:lpwstr>
  </property>
  <property fmtid="{D5CDD505-2E9C-101B-9397-08002B2CF9AE}" pid="10" name="ClassificationContentMarkingFooterLocations">
    <vt:lpwstr>Chalkboard 16x9:8</vt:lpwstr>
  </property>
  <property fmtid="{D5CDD505-2E9C-101B-9397-08002B2CF9AE}" pid="11" name="ClassificationContentMarkingFooterText">
    <vt:lpwstr>Cisco Confidential</vt:lpwstr>
  </property>
  <property fmtid="{D5CDD505-2E9C-101B-9397-08002B2CF9AE}" pid="12" name="MSIP_Label_19e68092-05df-4271-8e3e-b2a4c82ba797_Enabled">
    <vt:lpwstr>true</vt:lpwstr>
  </property>
  <property fmtid="{D5CDD505-2E9C-101B-9397-08002B2CF9AE}" pid="13" name="MSIP_Label_19e68092-05df-4271-8e3e-b2a4c82ba797_SetDate">
    <vt:lpwstr>2025-10-14T05:41:19Z</vt:lpwstr>
  </property>
  <property fmtid="{D5CDD505-2E9C-101B-9397-08002B2CF9AE}" pid="14" name="MSIP_Label_19e68092-05df-4271-8e3e-b2a4c82ba797_Method">
    <vt:lpwstr>Standard</vt:lpwstr>
  </property>
  <property fmtid="{D5CDD505-2E9C-101B-9397-08002B2CF9AE}" pid="15" name="MSIP_Label_19e68092-05df-4271-8e3e-b2a4c82ba797_Name">
    <vt:lpwstr>Amazon Confidential</vt:lpwstr>
  </property>
  <property fmtid="{D5CDD505-2E9C-101B-9397-08002B2CF9AE}" pid="16" name="MSIP_Label_19e68092-05df-4271-8e3e-b2a4c82ba797_SiteId">
    <vt:lpwstr>5280104a-472d-4538-9ccf-1e1d0efe8b1b</vt:lpwstr>
  </property>
  <property fmtid="{D5CDD505-2E9C-101B-9397-08002B2CF9AE}" pid="17" name="MSIP_Label_19e68092-05df-4271-8e3e-b2a4c82ba797_ActionId">
    <vt:lpwstr>df4c4868-330b-46d0-af12-3bdd41cd8760</vt:lpwstr>
  </property>
  <property fmtid="{D5CDD505-2E9C-101B-9397-08002B2CF9AE}" pid="18" name="MSIP_Label_19e68092-05df-4271-8e3e-b2a4c82ba797_ContentBits">
    <vt:lpwstr>0</vt:lpwstr>
  </property>
  <property fmtid="{D5CDD505-2E9C-101B-9397-08002B2CF9AE}" pid="19" name="MSIP_Label_19e68092-05df-4271-8e3e-b2a4c82ba797_Tag">
    <vt:lpwstr>10, 3, 0, 1</vt:lpwstr>
  </property>
</Properties>
</file>